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48521"/>
            <a:ext cx="12191695" cy="6858000"/>
          </a:xfrm>
          <a:prstGeom prst="rect">
            <a:avLst/>
          </a:prstGeom>
          <a:solidFill>
            <a:srgbClr val="18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6490" y="1347385"/>
            <a:ext cx="9724393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endParaRPr dirty="0">
              <a:solidFill>
                <a:schemeClr val="bg1"/>
              </a:solidFill>
              <a:latin typeface="Aptos"/>
            </a:endParaRPr>
          </a:p>
          <a:p>
            <a:pPr>
              <a:defRPr sz="2300">
                <a:solidFill>
                  <a:srgbClr val="FFFFFF"/>
                </a:solidFill>
              </a:defRPr>
            </a:pPr>
            <a:r>
              <a:rPr sz="3600" dirty="0">
                <a:solidFill>
                  <a:schemeClr val="bg1"/>
                </a:solidFill>
                <a:latin typeface="Aptos"/>
              </a:rPr>
              <a:t>Business performance analysis using Tableau</a:t>
            </a:r>
            <a:endParaRPr lang="en-US" sz="3600" dirty="0">
              <a:solidFill>
                <a:schemeClr val="bg1"/>
              </a:solidFill>
              <a:latin typeface="Aptos"/>
            </a:endParaRPr>
          </a:p>
          <a:p>
            <a:pPr>
              <a:defRPr sz="2300">
                <a:solidFill>
                  <a:srgbClr val="FFFFFF"/>
                </a:solidFill>
              </a:defRPr>
            </a:pPr>
            <a:endParaRPr lang="en-US" sz="3600" dirty="0">
              <a:solidFill>
                <a:schemeClr val="bg1"/>
              </a:solidFill>
              <a:latin typeface="Aptos"/>
            </a:endParaRPr>
          </a:p>
          <a:p>
            <a:pPr>
              <a:defRPr sz="2300">
                <a:solidFill>
                  <a:srgbClr val="FFFFFF"/>
                </a:solidFill>
              </a:defRPr>
            </a:pPr>
            <a:endParaRPr sz="3600" dirty="0">
              <a:solidFill>
                <a:schemeClr val="bg1"/>
              </a:solidFill>
              <a:latin typeface="Aptos"/>
            </a:endParaRPr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sz="2000" dirty="0">
                <a:solidFill>
                  <a:schemeClr val="bg1"/>
                </a:solidFill>
                <a:latin typeface="Aptos"/>
              </a:rPr>
              <a:t>Sales • Profitability • Regional performance • Product performance • Discount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71051"/>
            <a:ext cx="38263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  <a:latin typeface="Aptos"/>
              </a:rPr>
              <a:t>Prepared by Monday Maurice Uzochukwu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182D46"/>
                </a:solidFill>
                <a:latin typeface="Aptos"/>
              </a:rPr>
              <a:t>Superstore Sales &amp; Profit Analysis  •  Monday Maurice Uzochukwu  | 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47104"/>
            <a:ext cx="11338560" cy="13716"/>
          </a:xfrm>
          <a:prstGeom prst="rect">
            <a:avLst/>
          </a:prstGeom>
          <a:solidFill>
            <a:srgbClr val="CD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51780" y="6574536"/>
            <a:ext cx="225254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chemeClr val="bg1"/>
                </a:solidFill>
                <a:latin typeface="Aptos"/>
              </a:rPr>
              <a:t>Superstore Sales &amp; Profit Analysis  |  </a:t>
            </a:r>
            <a:r>
              <a:rPr sz="1000" dirty="0">
                <a:solidFill>
                  <a:srgbClr val="556270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8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0437"/>
            <a:ext cx="8059770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>
                <a:solidFill>
                  <a:srgbClr val="FFFFFF"/>
                </a:solidFill>
              </a:defRPr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Superstore Sales &amp; Profit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</a:defRPr>
            </a:pPr>
            <a:r>
              <a:rPr sz="2400" b="1">
                <a:solidFill>
                  <a:srgbClr val="182D46"/>
                </a:solidFill>
                <a:latin typeface="Aptos Display"/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What the analysis is designed to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440680" cy="1417320"/>
          </a:xfrm>
          <a:prstGeom prst="roundRect">
            <a:avLst/>
          </a:prstGeom>
          <a:solidFill>
            <a:srgbClr val="EBF3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Business objective</a:t>
            </a:r>
          </a:p>
          <a:p>
            <a:pPr>
              <a:spcAft>
                <a:spcPts val="0"/>
              </a:spcAft>
              <a:defRPr sz="130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Transform retail transaction data into clear evidence that can support better pricing, product, regional and promotional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5257800" cy="1417320"/>
          </a:xfrm>
          <a:prstGeom prst="roundRect">
            <a:avLst/>
          </a:prstGeom>
          <a:solidFill>
            <a:srgbClr val="F7F9FB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Analytical approach</a:t>
            </a:r>
          </a:p>
          <a:p>
            <a:pPr>
              <a:spcAft>
                <a:spcPts val="0"/>
              </a:spcAft>
              <a:defRPr sz="130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Combine Python exploratory analysis with an interactive Tableau dashboard to move from overall performance to specific business problems.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5440680" cy="2468880"/>
          </a:xfrm>
          <a:prstGeom prst="roundRect">
            <a:avLst/>
          </a:prstGeom>
          <a:solidFill>
            <a:srgbClr val="FAF6EB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Key questions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• Which categories and sub-categories generate the most profit?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• Which regions perform strongly or weakly?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• Do high sales always translate into high profit?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• How do discounts relate to profitability?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971800"/>
            <a:ext cx="5257800" cy="2468880"/>
          </a:xfrm>
          <a:prstGeom prst="roundRect">
            <a:avLst/>
          </a:prstGeom>
          <a:solidFill>
            <a:srgbClr val="F7F9FB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Final deliverable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• Interactive Tableau dashboard with Category and Region filters.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• Monthly sales and profit trend analysis.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• Profitability and discount analysis.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• Action-oriented findings and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Superstore Sales &amp; Profit Analysis  •  Monday Maurice Uzochukwu  |  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547104"/>
            <a:ext cx="11338560" cy="13716"/>
          </a:xfrm>
          <a:prstGeom prst="rect">
            <a:avLst/>
          </a:prstGeom>
          <a:solidFill>
            <a:srgbClr val="CD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</a:defRPr>
            </a:pPr>
            <a:r>
              <a:rPr sz="2400" b="1">
                <a:solidFill>
                  <a:srgbClr val="182D46"/>
                </a:solidFill>
                <a:latin typeface="Aptos Display"/>
              </a:rPr>
              <a:t>2. Overall Business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The business is profitable, but performance is not uniform across the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2057400" cy="1051560"/>
          </a:xfrm>
          <a:prstGeom prst="roundRect">
            <a:avLst/>
          </a:prstGeom>
          <a:solidFill>
            <a:srgbClr val="EBF3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$2.33M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Total Sales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298448"/>
            <a:ext cx="2057400" cy="1051560"/>
          </a:xfrm>
          <a:prstGeom prst="roundRect">
            <a:avLst/>
          </a:prstGeom>
          <a:solidFill>
            <a:srgbClr val="EBF3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$292.3K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Total Profit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298448"/>
            <a:ext cx="2057400" cy="1051560"/>
          </a:xfrm>
          <a:prstGeom prst="roundRect">
            <a:avLst/>
          </a:prstGeom>
          <a:solidFill>
            <a:srgbClr val="EBF3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12.56%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Profit Margin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298448"/>
            <a:ext cx="2057400" cy="1051560"/>
          </a:xfrm>
          <a:prstGeom prst="roundRect">
            <a:avLst/>
          </a:prstGeom>
          <a:solidFill>
            <a:srgbClr val="EBF3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5,111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298448"/>
            <a:ext cx="2057400" cy="1051560"/>
          </a:xfrm>
          <a:prstGeom prst="roundRect">
            <a:avLst/>
          </a:prstGeom>
          <a:solidFill>
            <a:srgbClr val="EBF3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804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Clients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5349240" cy="2331720"/>
          </a:xfrm>
          <a:prstGeom prst="roundRect">
            <a:avLst/>
          </a:prstGeom>
          <a:solidFill>
            <a:srgbClr val="EBF3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What the numbers mean</a:t>
            </a:r>
          </a:p>
          <a:p>
            <a:pPr>
              <a:spcAft>
                <a:spcPts val="0"/>
              </a:spcAft>
              <a:defRPr sz="130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The business generated approximately $2.33M in sales and $292.3K in profit. The 12.56% margin means about $12.56 of profit was retained for every $100 of sales.</a:t>
            </a:r>
            <a:br/>
            <a:br/>
            <a:r>
              <a:rPr sz="1400">
                <a:solidFill>
                  <a:srgbClr val="2D3741"/>
                </a:solidFill>
                <a:latin typeface="Aptos"/>
              </a:rPr>
              <a:t>The key issue is not simply generating revenue; it is improving how efficiently revenue converts into profit.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743200"/>
            <a:ext cx="5349240" cy="2331720"/>
          </a:xfrm>
          <a:prstGeom prst="roundRect">
            <a:avLst/>
          </a:prstGeom>
          <a:solidFill>
            <a:srgbClr val="F7F9FB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Analyst interpretation</a:t>
            </a:r>
          </a:p>
          <a:p>
            <a:pPr>
              <a:spcAft>
                <a:spcPts val="0"/>
              </a:spcAft>
              <a:defRPr sz="130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Overall performance is positive, but the category, sub-category and regional results show that profitability varies substantially. Management should therefore focus on profitable growth rather than sales growth alone.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Superstore Sales &amp; Profit Analysis  •  Monday Maurice Uzochukwu  | 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47104"/>
            <a:ext cx="11338560" cy="13716"/>
          </a:xfrm>
          <a:prstGeom prst="rect">
            <a:avLst/>
          </a:prstGeom>
          <a:solidFill>
            <a:srgbClr val="CD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</a:defRPr>
            </a:pPr>
            <a:r>
              <a:rPr sz="2400" b="1">
                <a:solidFill>
                  <a:srgbClr val="182D46"/>
                </a:solidFill>
                <a:latin typeface="Aptos Display"/>
              </a:rPr>
              <a:t>3. Category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Technology and Office Supplies convert sales into profit much more effectively than Furniture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920240"/>
          </a:xfrm>
          <a:prstGeom prst="roundRect">
            <a:avLst/>
          </a:prstGeom>
          <a:solidFill>
            <a:srgbClr val="EBF3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Technology</a:t>
            </a:r>
          </a:p>
          <a:p>
            <a:pPr>
              <a:spcAft>
                <a:spcPts val="0"/>
              </a:spcAft>
              <a:defRPr sz="130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Sales: $839.9K</a:t>
            </a:r>
            <a:br/>
            <a:r>
              <a:rPr sz="1400">
                <a:solidFill>
                  <a:srgbClr val="2D3741"/>
                </a:solidFill>
                <a:latin typeface="Aptos"/>
              </a:rPr>
              <a:t>Profit margin: 17.45%</a:t>
            </a:r>
            <a:br/>
            <a:br/>
            <a:r>
              <a:rPr sz="1400">
                <a:solidFill>
                  <a:srgbClr val="2D3741"/>
                </a:solidFill>
                <a:latin typeface="Aptos"/>
              </a:rPr>
              <a:t>Highest sales and strong profitability.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74720"/>
            <a:ext cx="3429000" cy="1920240"/>
          </a:xfrm>
          <a:prstGeom prst="roundRect">
            <a:avLst/>
          </a:prstGeom>
          <a:solidFill>
            <a:srgbClr val="F7F9FB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Office Supplies</a:t>
            </a:r>
          </a:p>
          <a:p>
            <a:pPr>
              <a:spcAft>
                <a:spcPts val="0"/>
              </a:spcAft>
              <a:defRPr sz="130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Sales: $731.9K</a:t>
            </a:r>
            <a:br/>
            <a:r>
              <a:rPr sz="1400">
                <a:solidFill>
                  <a:srgbClr val="2D3741"/>
                </a:solidFill>
                <a:latin typeface="Aptos"/>
              </a:rPr>
              <a:t>Profit margin: 17.22%</a:t>
            </a:r>
            <a:br/>
            <a:br/>
            <a:r>
              <a:rPr sz="1400">
                <a:solidFill>
                  <a:srgbClr val="2D3741"/>
                </a:solidFill>
                <a:latin typeface="Aptos"/>
              </a:rPr>
              <a:t>Healthy profit conversion despite lower sales.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7132320" cy="4069080"/>
          </a:xfrm>
          <a:prstGeom prst="roundRect">
            <a:avLst/>
          </a:prstGeom>
          <a:solidFill>
            <a:srgbClr val="FAF6EB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Furniture — the key concern</a:t>
            </a:r>
          </a:p>
          <a:p>
            <a:pPr>
              <a:spcAft>
                <a:spcPts val="0"/>
              </a:spcAft>
              <a:defRPr sz="140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Sales: $754.7K</a:t>
            </a:r>
            <a:br/>
            <a:r>
              <a:rPr sz="1400">
                <a:solidFill>
                  <a:srgbClr val="2D3741"/>
                </a:solidFill>
                <a:latin typeface="Aptos"/>
              </a:rPr>
              <a:t>Profit margin: 2.61%</a:t>
            </a:r>
            <a:br/>
            <a:br/>
            <a:r>
              <a:rPr sz="1400">
                <a:solidFill>
                  <a:srgbClr val="2D3741"/>
                </a:solidFill>
                <a:latin typeface="Aptos"/>
              </a:rPr>
              <a:t>Furniture generates substantial revenue, but very little of that revenue becomes profit compared with the other categories.</a:t>
            </a:r>
            <a:br/>
            <a:br/>
            <a:r>
              <a:rPr sz="1400">
                <a:solidFill>
                  <a:srgbClr val="2D3741"/>
                </a:solidFill>
                <a:latin typeface="Aptos"/>
              </a:rPr>
              <a:t>This gap suggests that pricing, discount levels, product costs or product mix may be eroding margins. Further drill-down should identify which products are responsible.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Superstore Sales &amp; Profit Analysis  •  Monday Maurice Uzochukwu  | 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547104"/>
            <a:ext cx="11338560" cy="13716"/>
          </a:xfrm>
          <a:prstGeom prst="rect">
            <a:avLst/>
          </a:prstGeom>
          <a:solidFill>
            <a:srgbClr val="CD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</a:defRPr>
            </a:pPr>
            <a:r>
              <a:rPr sz="2400" b="1">
                <a:solidFill>
                  <a:srgbClr val="182D46"/>
                </a:solidFill>
                <a:latin typeface="Aptos Display"/>
              </a:rPr>
              <a:t>4. Sub-Category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A few sub-categories drive strong profit while some products destroy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39110" y="1463040"/>
            <a:ext cx="16459" cy="3611880"/>
          </a:xfrm>
          <a:prstGeom prst="rect">
            <a:avLst/>
          </a:prstGeom>
          <a:solidFill>
            <a:srgbClr val="AA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Copiers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5569" y="1499917"/>
            <a:ext cx="3120618" cy="256032"/>
          </a:xfrm>
          <a:prstGeom prst="rect">
            <a:avLst/>
          </a:prstGeom>
          <a:solidFill>
            <a:srgbClr val="34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068290" y="1490472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$56.1K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6712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Phones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39110" y="2176272"/>
            <a:ext cx="2508732" cy="256032"/>
          </a:xfrm>
          <a:prstGeom prst="rect">
            <a:avLst/>
          </a:prstGeom>
          <a:solidFill>
            <a:srgbClr val="34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6404" y="214884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$45.1K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2549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Paper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39110" y="2788921"/>
            <a:ext cx="1902409" cy="256032"/>
          </a:xfrm>
          <a:prstGeom prst="rect">
            <a:avLst/>
          </a:prstGeom>
          <a:solidFill>
            <a:srgbClr val="34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50081" y="280720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$34.2K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83864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Accessories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85723" y="3538727"/>
            <a:ext cx="1034643" cy="256032"/>
          </a:xfrm>
          <a:prstGeom prst="rect">
            <a:avLst/>
          </a:prstGeom>
          <a:solidFill>
            <a:srgbClr val="34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82315" y="3465576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$18.6K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0364" y="412559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32D37"/>
                </a:solidFill>
              </a:defRPr>
            </a:pPr>
            <a:r>
              <a:rPr sz="1400" dirty="0">
                <a:solidFill>
                  <a:srgbClr val="2D3741"/>
                </a:solidFill>
                <a:latin typeface="Aptos"/>
              </a:rPr>
              <a:t>Tables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8814" y="4180455"/>
            <a:ext cx="990142" cy="256032"/>
          </a:xfrm>
          <a:prstGeom prst="rect">
            <a:avLst/>
          </a:prstGeom>
          <a:solidFill>
            <a:srgbClr val="B2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99098" y="4151375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32D37"/>
                </a:solidFill>
              </a:defRPr>
            </a:pPr>
            <a:r>
              <a:rPr sz="1400" dirty="0">
                <a:solidFill>
                  <a:srgbClr val="2D3741"/>
                </a:solidFill>
                <a:latin typeface="Aptos"/>
              </a:rPr>
              <a:t>-$17.8K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92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Selected sub-categories • Profit contribution ($K)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1325880"/>
            <a:ext cx="5532120" cy="4114800"/>
          </a:xfrm>
          <a:prstGeom prst="roundRect">
            <a:avLst/>
          </a:prstGeom>
          <a:solidFill>
            <a:srgbClr val="F7F9FB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What the analysis tells us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• Copiers are the strongest profit contributor at approximately $56.1K.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• Phones contribute about $45.1K and are another major positive driver.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• Tables generate approximately $17.8K in negative profit.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• The next step is to drill into product-level discounts, prices, quantities and costs.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• Loss-making products should be reviewed before increasing sales through additional discounting.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Superstore Sales &amp; Profit Analysis  •  Monday Maurice Uzochukwu  | 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547104"/>
            <a:ext cx="11338560" cy="13716"/>
          </a:xfrm>
          <a:prstGeom prst="rect">
            <a:avLst/>
          </a:prstGeom>
          <a:solidFill>
            <a:srgbClr val="CD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</a:defRPr>
            </a:pPr>
            <a:r>
              <a:rPr sz="2400" b="1">
                <a:solidFill>
                  <a:srgbClr val="182D46"/>
                </a:solidFill>
                <a:latin typeface="Aptos Display"/>
              </a:rPr>
              <a:t>5. Regional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West leads profitability; Central and South require deeper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West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3080" y="1426464"/>
            <a:ext cx="4572000" cy="274320"/>
          </a:xfrm>
          <a:prstGeom prst="rect">
            <a:avLst/>
          </a:prstGeom>
          <a:solidFill>
            <a:srgbClr val="34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40817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$110.8K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6712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East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2176272"/>
            <a:ext cx="3918204" cy="274320"/>
          </a:xfrm>
          <a:prstGeom prst="rect">
            <a:avLst/>
          </a:prstGeom>
          <a:solidFill>
            <a:srgbClr val="34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15798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$94.9K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16936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South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2926079"/>
            <a:ext cx="1924812" cy="274320"/>
          </a:xfrm>
          <a:prstGeom prst="rect">
            <a:avLst/>
          </a:prstGeom>
          <a:solidFill>
            <a:srgbClr val="34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9077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$46.7K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66744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Central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675887"/>
            <a:ext cx="1645919" cy="274320"/>
          </a:xfrm>
          <a:prstGeom prst="rect">
            <a:avLst/>
          </a:prstGeom>
          <a:solidFill>
            <a:srgbClr val="34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$39.9K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325880"/>
            <a:ext cx="3566160" cy="1965960"/>
          </a:xfrm>
          <a:prstGeom prst="roundRect">
            <a:avLst/>
          </a:prstGeom>
          <a:solidFill>
            <a:srgbClr val="EBF3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Finding</a:t>
            </a:r>
          </a:p>
          <a:p>
            <a:pPr>
              <a:spcAft>
                <a:spcPts val="0"/>
              </a:spcAft>
              <a:defRPr sz="130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West generates the highest profit at about $110.8K, while Central is lowest at about $39.9K.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3520440"/>
            <a:ext cx="3566160" cy="1965960"/>
          </a:xfrm>
          <a:prstGeom prst="roundRect">
            <a:avLst/>
          </a:prstGeom>
          <a:solidFill>
            <a:srgbClr val="FAF6EB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Why Central needs attention</a:t>
            </a:r>
          </a:p>
          <a:p>
            <a:pPr>
              <a:spcAft>
                <a:spcPts val="0"/>
              </a:spcAft>
              <a:defRPr sz="130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Your category-by-region drill-down showed that Central sells more Furniture. Yet Central has the lowest regional profit. This means strong sales volume is not translating into strong profit.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Superstore Sales &amp; Profit Analysis  •  Monday Maurice Uzochukwu  | 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547104"/>
            <a:ext cx="11338560" cy="13716"/>
          </a:xfrm>
          <a:prstGeom prst="rect">
            <a:avLst/>
          </a:prstGeom>
          <a:solidFill>
            <a:srgbClr val="CD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</a:defRPr>
            </a:pPr>
            <a:r>
              <a:rPr sz="2400" b="1">
                <a:solidFill>
                  <a:srgbClr val="182D46"/>
                </a:solidFill>
                <a:latin typeface="Aptos Display"/>
              </a:rPr>
              <a:t>6. Monthly Trends &amp; Discount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Sales peaks and discounting need to be evaluated alongside profit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49240" cy="1874519"/>
          </a:xfrm>
          <a:prstGeom prst="roundRect">
            <a:avLst/>
          </a:prstGeom>
          <a:solidFill>
            <a:srgbClr val="EBF3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Monthly trend finding</a:t>
            </a:r>
          </a:p>
          <a:p>
            <a:pPr>
              <a:spcAft>
                <a:spcPts val="0"/>
              </a:spcAft>
              <a:defRPr sz="130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November recorded the highest sales, while December recorded the highest profit.</a:t>
            </a:r>
            <a:br/>
            <a:br/>
            <a:r>
              <a:rPr sz="1400">
                <a:solidFill>
                  <a:srgbClr val="2D3741"/>
                </a:solidFill>
                <a:latin typeface="Aptos"/>
              </a:rPr>
              <a:t>From May to July, sales were high but profit did not increase at the same rate. This indicates weaker profit conversion during that period.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29000"/>
            <a:ext cx="5349240" cy="1874519"/>
          </a:xfrm>
          <a:prstGeom prst="roundRect">
            <a:avLst/>
          </a:prstGeom>
          <a:solidFill>
            <a:srgbClr val="F7F9FB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Seasonality</a:t>
            </a:r>
          </a:p>
          <a:p>
            <a:pPr>
              <a:spcAft>
                <a:spcPts val="0"/>
              </a:spcAft>
              <a:defRPr sz="130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The dashboard shows recurring increases in activity around May and September.</a:t>
            </a:r>
            <a:br/>
            <a:br/>
            <a:r>
              <a:rPr sz="1400">
                <a:solidFill>
                  <a:srgbClr val="2D3741"/>
                </a:solidFill>
                <a:latin typeface="Aptos"/>
              </a:rPr>
              <a:t>Recognizing these patterns can help management plan inventory, staffing and promotional activity more effectively.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349240" cy="3977639"/>
          </a:xfrm>
          <a:prstGeom prst="roundRect">
            <a:avLst/>
          </a:prstGeom>
          <a:solidFill>
            <a:srgbClr val="FAF6EB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A44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Discount vs. profit</a:t>
            </a:r>
          </a:p>
          <a:p>
            <a:pPr>
              <a:spcAft>
                <a:spcPts val="0"/>
              </a:spcAft>
              <a:defRPr sz="1300">
                <a:solidFill>
                  <a:srgbClr val="232D37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Technology combines relatively low discounting with the highest profit generation among the categories.</a:t>
            </a:r>
            <a:br/>
            <a:br/>
            <a:r>
              <a:rPr sz="1400">
                <a:solidFill>
                  <a:srgbClr val="2D3741"/>
                </a:solidFill>
                <a:latin typeface="Aptos"/>
              </a:rPr>
              <a:t>Furniture has comparatively higher discounting but produces the weakest category profit margin.</a:t>
            </a:r>
            <a:br/>
            <a:br/>
            <a:r>
              <a:rPr sz="1400">
                <a:solidFill>
                  <a:srgbClr val="2D3741"/>
                </a:solidFill>
                <a:latin typeface="Aptos"/>
              </a:rPr>
              <a:t>The key lesson is that higher discounts do not automatically produce higher profit. Discounts should be targeted where the expected increase in sales compensates for the reduction in margin.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46E"/>
                </a:solidFill>
              </a:defRPr>
            </a:pPr>
            <a:r>
              <a:rPr sz="1400">
                <a:solidFill>
                  <a:srgbClr val="2D3741"/>
                </a:solidFill>
                <a:latin typeface="Aptos"/>
              </a:rPr>
              <a:t>Superstore Sales &amp; Profit Analysis  •  Monday Maurice Uzochukwu  | 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547104"/>
            <a:ext cx="11338560" cy="13716"/>
          </a:xfrm>
          <a:prstGeom prst="rect">
            <a:avLst/>
          </a:prstGeom>
          <a:solidFill>
            <a:srgbClr val="CD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A44"/>
                </a:solidFill>
              </a:defRPr>
            </a:pPr>
            <a:r>
              <a:rPr sz="2400" b="1">
                <a:solidFill>
                  <a:srgbClr val="182D46"/>
                </a:solidFill>
                <a:latin typeface="Aptos Display"/>
              </a:rPr>
              <a:t>7. 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467711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42A44"/>
                </a:solidFill>
              </a:defRPr>
            </a:pPr>
            <a:r>
              <a:rPr sz="1600" dirty="0">
                <a:solidFill>
                  <a:srgbClr val="2D3741"/>
                </a:solidFill>
                <a:latin typeface="Aptos"/>
              </a:rPr>
              <a:t>Turning the analysis into practical business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492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232D37"/>
                </a:solidFill>
              </a:defRPr>
            </a:pPr>
            <a:r>
              <a:rPr sz="2000" b="1" dirty="0">
                <a:solidFill>
                  <a:srgbClr val="182D46"/>
                </a:solidFill>
                <a:latin typeface="Aptos Display"/>
              </a:rPr>
              <a:t>1. Protect profitable growth</a:t>
            </a:r>
          </a:p>
          <a:p>
            <a:pPr>
              <a:defRPr sz="1250">
                <a:solidFill>
                  <a:srgbClr val="232D37"/>
                </a:solidFill>
              </a:defRPr>
            </a:pPr>
            <a:r>
              <a:rPr sz="2000" b="1" dirty="0">
                <a:solidFill>
                  <a:srgbClr val="182D46"/>
                </a:solidFill>
                <a:latin typeface="Aptos Display"/>
              </a:rPr>
              <a:t>Technology and Office Supplies show that strong sales can coexist with healthy margins.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50890"/>
            <a:ext cx="5349240" cy="1272470"/>
          </a:xfrm>
          <a:prstGeom prst="roundRect">
            <a:avLst/>
          </a:prstGeom>
          <a:solidFill>
            <a:srgbClr val="F5F7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232D37"/>
                </a:solidFill>
              </a:defRPr>
            </a:pPr>
            <a:r>
              <a:rPr sz="2000" b="1" dirty="0">
                <a:solidFill>
                  <a:srgbClr val="182D46"/>
                </a:solidFill>
                <a:latin typeface="Aptos Display"/>
              </a:rPr>
              <a:t>2. Fix Furniture profitability</a:t>
            </a:r>
          </a:p>
          <a:p>
            <a:pPr>
              <a:defRPr sz="1250">
                <a:solidFill>
                  <a:srgbClr val="232D37"/>
                </a:solidFill>
              </a:defRPr>
            </a:pPr>
            <a:r>
              <a:rPr sz="2000" b="1" dirty="0">
                <a:solidFill>
                  <a:srgbClr val="182D46"/>
                </a:solidFill>
                <a:latin typeface="Aptos Display"/>
              </a:rPr>
              <a:t>A 2.61% margin is substantially below the other categories. Review pricing, costs, discounts and product mix</a:t>
            </a:r>
            <a:r>
              <a:rPr sz="2400" b="1" dirty="0">
                <a:solidFill>
                  <a:srgbClr val="182D46"/>
                </a:solidFill>
                <a:latin typeface="Aptos Display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53492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232D37"/>
                </a:solidFill>
              </a:defRPr>
            </a:pPr>
            <a:r>
              <a:rPr sz="2000" b="1" dirty="0">
                <a:solidFill>
                  <a:srgbClr val="182D46"/>
                </a:solidFill>
                <a:latin typeface="Aptos Display"/>
              </a:rPr>
              <a:t>3. Investigate loss-making products</a:t>
            </a:r>
          </a:p>
          <a:p>
            <a:pPr>
              <a:defRPr sz="1250">
                <a:solidFill>
                  <a:srgbClr val="232D37"/>
                </a:solidFill>
              </a:defRPr>
            </a:pPr>
            <a:r>
              <a:rPr sz="2000" b="1" dirty="0">
                <a:solidFill>
                  <a:srgbClr val="182D46"/>
                </a:solidFill>
                <a:latin typeface="Aptos Display"/>
              </a:rPr>
              <a:t>Tables generated about $17.8K in negative profit and should be reviewed at product level</a:t>
            </a:r>
            <a:r>
              <a:rPr sz="2400" b="1" dirty="0">
                <a:solidFill>
                  <a:srgbClr val="182D46"/>
                </a:solidFill>
                <a:latin typeface="Aptos Display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0112" y="1323406"/>
            <a:ext cx="53492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232D37"/>
                </a:solidFill>
              </a:defRPr>
            </a:pPr>
            <a:r>
              <a:rPr sz="2000" b="1" dirty="0">
                <a:solidFill>
                  <a:srgbClr val="182D46"/>
                </a:solidFill>
                <a:latin typeface="Aptos Display"/>
              </a:rPr>
              <a:t>4. Learn from regional leaders</a:t>
            </a:r>
          </a:p>
          <a:p>
            <a:pPr>
              <a:defRPr sz="1250">
                <a:solidFill>
                  <a:srgbClr val="232D37"/>
                </a:solidFill>
              </a:defRPr>
            </a:pPr>
            <a:r>
              <a:rPr sz="2000" b="1" dirty="0">
                <a:solidFill>
                  <a:srgbClr val="182D46"/>
                </a:solidFill>
                <a:latin typeface="Aptos Display"/>
              </a:rPr>
              <a:t>West and East outperform South and Central. Identify successful product, pricing and discount practices.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88920"/>
            <a:ext cx="53492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232D37"/>
                </a:solidFill>
              </a:defRPr>
            </a:pPr>
            <a:r>
              <a:rPr sz="2000" b="1" dirty="0">
                <a:solidFill>
                  <a:srgbClr val="182D46"/>
                </a:solidFill>
                <a:latin typeface="Aptos Display"/>
              </a:rPr>
              <a:t>5. Make discounts more targeted</a:t>
            </a:r>
          </a:p>
          <a:p>
            <a:pPr>
              <a:defRPr sz="1250">
                <a:solidFill>
                  <a:srgbClr val="232D37"/>
                </a:solidFill>
              </a:defRPr>
            </a:pPr>
            <a:r>
              <a:rPr sz="2000" b="1" dirty="0">
                <a:solidFill>
                  <a:srgbClr val="182D46"/>
                </a:solidFill>
                <a:latin typeface="Aptos Display"/>
              </a:rPr>
              <a:t>Evaluate promotions by their effect on profit, not sales volume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3492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232D37"/>
                </a:solidFill>
              </a:defRPr>
            </a:pPr>
            <a:r>
              <a:rPr sz="2400" b="1" dirty="0">
                <a:solidFill>
                  <a:srgbClr val="182D46"/>
                </a:solidFill>
                <a:latin typeface="Aptos Display"/>
              </a:rPr>
              <a:t>6</a:t>
            </a:r>
            <a:r>
              <a:rPr sz="2000" b="1" dirty="0">
                <a:solidFill>
                  <a:srgbClr val="182D46"/>
                </a:solidFill>
                <a:latin typeface="Aptos Display"/>
              </a:rPr>
              <a:t>. Use the dashboard for deeper diagnosis</a:t>
            </a:r>
          </a:p>
          <a:p>
            <a:pPr>
              <a:defRPr sz="1250">
                <a:solidFill>
                  <a:srgbClr val="232D37"/>
                </a:solidFill>
              </a:defRPr>
            </a:pPr>
            <a:r>
              <a:rPr sz="2000" b="1" dirty="0">
                <a:solidFill>
                  <a:srgbClr val="182D46"/>
                </a:solidFill>
                <a:latin typeface="Aptos Display"/>
              </a:rPr>
              <a:t>Filter by region and category to move from high-level findings to specific products and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8540" y="6473952"/>
            <a:ext cx="54986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232D37"/>
                </a:solidFill>
              </a:defRPr>
            </a:pPr>
            <a:r>
              <a:rPr sz="1400" dirty="0">
                <a:solidFill>
                  <a:srgbClr val="182D46"/>
                </a:solidFill>
                <a:latin typeface="Aptos"/>
              </a:rPr>
              <a:t>Superstore Sales &amp; Profit Analysis  •  Monday Maurice Uzochukwu  </a:t>
            </a:r>
            <a:r>
              <a:rPr sz="1050" dirty="0">
                <a:solidFill>
                  <a:srgbClr val="182D46"/>
                </a:solidFill>
                <a:latin typeface="Aptos"/>
              </a:rPr>
              <a:t>| 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547104"/>
            <a:ext cx="11338560" cy="13716"/>
          </a:xfrm>
          <a:prstGeom prst="rect">
            <a:avLst/>
          </a:prstGeom>
          <a:solidFill>
            <a:srgbClr val="CD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987</Words>
  <Application>Microsoft Office PowerPoint</Application>
  <PresentationFormat>Widescreen</PresentationFormat>
  <Paragraphs>111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&amp; Profit Analysis</dc:title>
  <dc:subject>Professional presentation of Tableau dashboard findings</dc:subject>
  <dc:creator>Monday Maurice Uzochukwu</dc:creator>
  <cp:keywords>Tableau, Superstore, Sales, Profit, Data Analysis, Business Intelligence</cp:keywords>
  <dc:description>generated using python-pptx</dc:description>
  <cp:lastModifiedBy>Maurice Monday</cp:lastModifiedBy>
  <cp:revision>2</cp:revision>
  <dcterms:created xsi:type="dcterms:W3CDTF">2013-01-27T09:14:16Z</dcterms:created>
  <dcterms:modified xsi:type="dcterms:W3CDTF">2026-07-31T13:02:31Z</dcterms:modified>
  <cp:category/>
</cp:coreProperties>
</file>